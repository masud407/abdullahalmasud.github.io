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11">
  <p:sldMasterIdLst>
    <p:sldMasterId id="2147483655" r:id="rId4"/>
    <p:sldMasterId id="2147483648" r:id="rId5"/>
  </p:sldMasterIdLst>
  <p:notesMasterIdLst>
    <p:notesMasterId r:id="rId20"/>
  </p:notesMasterIdLst>
  <p:handoutMasterIdLst>
    <p:handoutMasterId r:id="rId21"/>
  </p:handoutMasterIdLst>
  <p:sldIdLst>
    <p:sldId id="259" r:id="rId6"/>
    <p:sldId id="284" r:id="rId7"/>
    <p:sldId id="287" r:id="rId8"/>
    <p:sldId id="288" r:id="rId9"/>
    <p:sldId id="289" r:id="rId10"/>
    <p:sldId id="290" r:id="rId11"/>
    <p:sldId id="291" r:id="rId12"/>
    <p:sldId id="296" r:id="rId13"/>
    <p:sldId id="292" r:id="rId14"/>
    <p:sldId id="297" r:id="rId15"/>
    <p:sldId id="293" r:id="rId16"/>
    <p:sldId id="294" r:id="rId17"/>
    <p:sldId id="295" r:id="rId18"/>
    <p:sldId id="262" r:id="rId1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özhan geçgel" initials="ög" lastIdx="2" clrIdx="0">
    <p:extLst>
      <p:ext uri="{19B8F6BF-5375-455C-9EA6-DF929625EA0E}">
        <p15:presenceInfo xmlns:p15="http://schemas.microsoft.com/office/powerpoint/2012/main" userId="7a7d2b3f16784193" providerId="Windows Live"/>
      </p:ext>
    </p:extLst>
  </p:cmAuthor>
  <p:cmAuthor id="2" name="Gecgel, Ozhan" initials="GO" lastIdx="3" clrIdx="1">
    <p:extLst>
      <p:ext uri="{19B8F6BF-5375-455C-9EA6-DF929625EA0E}">
        <p15:presenceInfo xmlns:p15="http://schemas.microsoft.com/office/powerpoint/2012/main" userId="Gecgel, Oz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07A"/>
    <a:srgbClr val="3333FF"/>
    <a:srgbClr val="FFCC00"/>
    <a:srgbClr val="269326"/>
    <a:srgbClr val="FF3333"/>
    <a:srgbClr val="339933"/>
    <a:srgbClr val="FF9933"/>
    <a:srgbClr val="C05984"/>
    <a:srgbClr val="0099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1" autoAdjust="0"/>
    <p:restoredTop sz="68291" autoAdjust="0"/>
  </p:normalViewPr>
  <p:slideViewPr>
    <p:cSldViewPr>
      <p:cViewPr varScale="1">
        <p:scale>
          <a:sx n="131" d="100"/>
          <a:sy n="131" d="100"/>
        </p:scale>
        <p:origin x="264" y="96"/>
      </p:cViewPr>
      <p:guideLst>
        <p:guide orient="horz" pos="2544"/>
        <p:guide pos="288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120" y="62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/>
          <a:lstStyle>
            <a:lvl1pPr algn="r">
              <a:defRPr sz="1300"/>
            </a:lvl1pPr>
          </a:lstStyle>
          <a:p>
            <a:fld id="{0101D182-FCA6-4386-8D61-B6443AA6FDC7}" type="datetimeFigureOut">
              <a:rPr lang="en-US" smtClean="0"/>
              <a:pPr/>
              <a:t>8/16/2021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19475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8" y="9119475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 anchor="b"/>
          <a:lstStyle>
            <a:lvl1pPr algn="r">
              <a:defRPr sz="1300"/>
            </a:lvl1pPr>
          </a:lstStyle>
          <a:p>
            <a:fld id="{F7596E0C-5DB0-47E4-9B1B-EB9AFAA0BA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418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/>
          <a:lstStyle>
            <a:lvl1pPr algn="r">
              <a:defRPr sz="1300"/>
            </a:lvl1pPr>
          </a:lstStyle>
          <a:p>
            <a:fld id="{50281016-A4FE-478D-AEFC-64AF4A52F069}" type="datetimeFigureOut">
              <a:rPr lang="en-US" smtClean="0"/>
              <a:pPr/>
              <a:t>8/16/2021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791" tIns="48396" rIns="96791" bIns="4839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791" tIns="48396" rIns="96791" bIns="4839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0060"/>
          </a:xfrm>
          <a:prstGeom prst="rect">
            <a:avLst/>
          </a:prstGeom>
        </p:spPr>
        <p:txBody>
          <a:bodyPr vert="horz" lIns="96791" tIns="48396" rIns="96791" bIns="48396" rtlCol="0" anchor="b"/>
          <a:lstStyle>
            <a:lvl1pPr algn="r">
              <a:defRPr sz="1300"/>
            </a:lvl1pPr>
          </a:lstStyle>
          <a:p>
            <a:fld id="{FD555D18-6FA6-4157-8AC2-857088A5BC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AADF-6D30-4D57-96F0-F700B8C05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4A4BD-917A-45DA-95AA-28199D4A8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9146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3CFC-4A7C-4D49-BFCB-0BE38038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0B5191-9B24-4305-A0FD-DB8B468E3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3917" y="6317650"/>
            <a:ext cx="457200" cy="276999"/>
          </a:xfrm>
          <a:prstGeom prst="rect">
            <a:avLst/>
          </a:prstGeom>
        </p:spPr>
        <p:txBody>
          <a:bodyPr/>
          <a:lstStyle/>
          <a:p>
            <a:fld id="{29F213C9-33A6-42F4-901F-5DD32559A5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0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23C21136-BE9A-4935-9832-DD87A6F7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6001"/>
            <a:ext cx="8991600" cy="51981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AEB4E99-65EC-446B-B587-52AF0D5B1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0129" y="6606421"/>
            <a:ext cx="392723" cy="276999"/>
          </a:xfrm>
          <a:prstGeom prst="rect">
            <a:avLst/>
          </a:prstGeom>
        </p:spPr>
        <p:txBody>
          <a:bodyPr/>
          <a:lstStyle>
            <a:lvl1pPr algn="r">
              <a:defRPr sz="900" b="0">
                <a:solidFill>
                  <a:srgbClr val="1F407A"/>
                </a:solidFill>
              </a:defRPr>
            </a:lvl1pPr>
          </a:lstStyle>
          <a:p>
            <a:fld id="{29F213C9-33A6-42F4-901F-5DD32559A5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D5D1F4-E863-4DDA-AF8F-C078BAE4FFB8}"/>
              </a:ext>
            </a:extLst>
          </p:cNvPr>
          <p:cNvSpPr txBox="1"/>
          <p:nvPr userDrawn="1"/>
        </p:nvSpPr>
        <p:spPr>
          <a:xfrm>
            <a:off x="7113714" y="6386473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kern="1200" dirty="0">
                <a:solidFill>
                  <a:srgbClr val="1F407A"/>
                </a:solidFill>
                <a:latin typeface="+mn-lt"/>
                <a:ea typeface="+mn-ea"/>
                <a:cs typeface="+mn-cs"/>
              </a:rPr>
              <a:t>Texas Tech University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5B61B1A2-85F5-46D8-AA37-C8FACC095DC5}"/>
              </a:ext>
            </a:extLst>
          </p:cNvPr>
          <p:cNvSpPr/>
          <p:nvPr userDrawn="1"/>
        </p:nvSpPr>
        <p:spPr>
          <a:xfrm>
            <a:off x="304800" y="884935"/>
            <a:ext cx="2133600" cy="486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2400" dirty="0">
              <a:solidFill>
                <a:srgbClr val="1F407A"/>
              </a:solidFill>
              <a:cs typeface="Arial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B24F8043-E31C-4D24-9FE0-A7B199BCCB0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524000"/>
            <a:ext cx="85344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24">
            <a:extLst>
              <a:ext uri="{FF2B5EF4-FFF2-40B4-BE49-F238E27FC236}">
                <a16:creationId xmlns:a16="http://schemas.microsoft.com/office/drawing/2014/main" id="{27F915C0-2F49-47FF-A445-521181E5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6001"/>
            <a:ext cx="8991600" cy="51981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C9450D2-FE8F-4D5A-97DE-133AA03CEA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937767"/>
            <a:ext cx="1981200" cy="35763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1F407A"/>
                </a:solidFill>
              </a:defRPr>
            </a:lvl1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E4B6886-CBDD-44C0-88CE-98FF6B1C2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3918" y="6400800"/>
            <a:ext cx="392723" cy="276999"/>
          </a:xfrm>
          <a:prstGeom prst="rect">
            <a:avLst/>
          </a:prstGeom>
        </p:spPr>
        <p:txBody>
          <a:bodyPr/>
          <a:lstStyle>
            <a:lvl1pPr algn="r">
              <a:defRPr sz="1000" b="0">
                <a:solidFill>
                  <a:srgbClr val="1F407A"/>
                </a:solidFill>
              </a:defRPr>
            </a:lvl1pPr>
          </a:lstStyle>
          <a:p>
            <a:fld id="{29F213C9-33A6-42F4-901F-5DD32559A5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20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1BC06D6-5BD4-44B3-8554-DF37E4B1DD02}"/>
              </a:ext>
            </a:extLst>
          </p:cNvPr>
          <p:cNvSpPr txBox="1">
            <a:spLocks/>
          </p:cNvSpPr>
          <p:nvPr userDrawn="1"/>
        </p:nvSpPr>
        <p:spPr>
          <a:xfrm>
            <a:off x="304799" y="152400"/>
            <a:ext cx="8534401" cy="1752600"/>
          </a:xfrm>
          <a:prstGeom prst="roundRect">
            <a:avLst>
              <a:gd name="adj" fmla="val 4245"/>
            </a:avLst>
          </a:prstGeom>
          <a:solidFill>
            <a:srgbClr val="1F407A"/>
          </a:solidFill>
          <a:ln>
            <a:solidFill>
              <a:srgbClr val="1F40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defTabSz="457200">
              <a:defRPr>
                <a:solidFill>
                  <a:schemeClr val="lt1"/>
                </a:solidFill>
              </a:defRPr>
            </a:lvl1pPr>
            <a:lvl2pPr defTabSz="457200">
              <a:defRPr>
                <a:solidFill>
                  <a:schemeClr val="lt1"/>
                </a:solidFill>
              </a:defRPr>
            </a:lvl2pPr>
            <a:lvl3pPr defTabSz="457200">
              <a:defRPr>
                <a:solidFill>
                  <a:schemeClr val="lt1"/>
                </a:solidFill>
              </a:defRPr>
            </a:lvl3pPr>
            <a:lvl4pPr defTabSz="457200">
              <a:defRPr>
                <a:solidFill>
                  <a:schemeClr val="lt1"/>
                </a:solidFill>
              </a:defRPr>
            </a:lvl4pPr>
            <a:lvl5pPr defTabSz="457200">
              <a:defRPr>
                <a:solidFill>
                  <a:schemeClr val="lt1"/>
                </a:solidFill>
              </a:defRPr>
            </a:lvl5pPr>
            <a:lvl6pPr defTabSz="457200">
              <a:defRPr>
                <a:solidFill>
                  <a:schemeClr val="lt1"/>
                </a:solidFill>
              </a:defRPr>
            </a:lvl6pPr>
            <a:lvl7pPr defTabSz="457200">
              <a:defRPr>
                <a:solidFill>
                  <a:schemeClr val="lt1"/>
                </a:solidFill>
              </a:defRPr>
            </a:lvl7pPr>
            <a:lvl8pPr defTabSz="457200">
              <a:defRPr>
                <a:solidFill>
                  <a:schemeClr val="lt1"/>
                </a:solidFill>
              </a:defRPr>
            </a:lvl8pPr>
            <a:lvl9pPr defTabSz="457200"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1" name="Picture 2" descr="DoubleT">
            <a:extLst>
              <a:ext uri="{FF2B5EF4-FFF2-40B4-BE49-F238E27FC236}">
                <a16:creationId xmlns:a16="http://schemas.microsoft.com/office/drawing/2014/main" id="{32EE447D-F8B7-4FF0-8D89-C4F60A33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138389"/>
            <a:ext cx="495300" cy="60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89D355-18A1-41A0-A016-C970729C04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9069" y="6049575"/>
            <a:ext cx="1247775" cy="77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dt="0"/>
  <p:txStyles>
    <p:titleStyle>
      <a:lvl1pPr algn="l" defTabSz="914400" rtl="0" eaLnBrk="1" fontAlgn="base" latinLnBrk="0" hangingPunct="1">
        <a:spcBef>
          <a:spcPct val="0"/>
        </a:spcBef>
        <a:spcAft>
          <a:spcPct val="0"/>
        </a:spcAft>
        <a:buNone/>
        <a:defRPr lang="en-US" sz="320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1BC06D6-5BD4-44B3-8554-DF37E4B1DD02}"/>
              </a:ext>
            </a:extLst>
          </p:cNvPr>
          <p:cNvSpPr txBox="1">
            <a:spLocks/>
          </p:cNvSpPr>
          <p:nvPr userDrawn="1"/>
        </p:nvSpPr>
        <p:spPr>
          <a:xfrm>
            <a:off x="0" y="-18318"/>
            <a:ext cx="9144000" cy="634856"/>
          </a:xfrm>
          <a:prstGeom prst="rect">
            <a:avLst/>
          </a:prstGeom>
          <a:solidFill>
            <a:srgbClr val="1F407A"/>
          </a:solidFill>
          <a:ln>
            <a:solidFill>
              <a:srgbClr val="1F40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defTabSz="457200">
              <a:defRPr>
                <a:solidFill>
                  <a:schemeClr val="lt1"/>
                </a:solidFill>
              </a:defRPr>
            </a:lvl1pPr>
            <a:lvl2pPr defTabSz="457200">
              <a:defRPr>
                <a:solidFill>
                  <a:schemeClr val="lt1"/>
                </a:solidFill>
              </a:defRPr>
            </a:lvl2pPr>
            <a:lvl3pPr defTabSz="457200">
              <a:defRPr>
                <a:solidFill>
                  <a:schemeClr val="lt1"/>
                </a:solidFill>
              </a:defRPr>
            </a:lvl3pPr>
            <a:lvl4pPr defTabSz="457200">
              <a:defRPr>
                <a:solidFill>
                  <a:schemeClr val="lt1"/>
                </a:solidFill>
              </a:defRPr>
            </a:lvl4pPr>
            <a:lvl5pPr defTabSz="457200">
              <a:defRPr>
                <a:solidFill>
                  <a:schemeClr val="lt1"/>
                </a:solidFill>
              </a:defRPr>
            </a:lvl5pPr>
            <a:lvl6pPr defTabSz="457200">
              <a:defRPr>
                <a:solidFill>
                  <a:schemeClr val="lt1"/>
                </a:solidFill>
              </a:defRPr>
            </a:lvl6pPr>
            <a:lvl7pPr defTabSz="457200">
              <a:defRPr>
                <a:solidFill>
                  <a:schemeClr val="lt1"/>
                </a:solidFill>
              </a:defRPr>
            </a:lvl7pPr>
            <a:lvl8pPr defTabSz="457200">
              <a:defRPr>
                <a:solidFill>
                  <a:schemeClr val="lt1"/>
                </a:solidFill>
              </a:defRPr>
            </a:lvl8pPr>
            <a:lvl9pPr defTabSz="457200"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0627D7E-0FA3-43BD-9B06-B27D8FA7FFAE}"/>
              </a:ext>
            </a:extLst>
          </p:cNvPr>
          <p:cNvSpPr txBox="1">
            <a:spLocks/>
          </p:cNvSpPr>
          <p:nvPr userDrawn="1"/>
        </p:nvSpPr>
        <p:spPr>
          <a:xfrm>
            <a:off x="392241" y="1500574"/>
            <a:ext cx="8534400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Picture 2" descr="DoubleT">
            <a:extLst>
              <a:ext uri="{FF2B5EF4-FFF2-40B4-BE49-F238E27FC236}">
                <a16:creationId xmlns:a16="http://schemas.microsoft.com/office/drawing/2014/main" id="{32EE447D-F8B7-4FF0-8D89-C4F60A33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6138389"/>
            <a:ext cx="495300" cy="60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C16C10A3-2FF4-4521-A3B3-DFBD291BF53A}"/>
              </a:ext>
            </a:extLst>
          </p:cNvPr>
          <p:cNvSpPr/>
          <p:nvPr userDrawn="1"/>
        </p:nvSpPr>
        <p:spPr>
          <a:xfrm>
            <a:off x="152400" y="726497"/>
            <a:ext cx="8860452" cy="5323078"/>
          </a:xfrm>
          <a:prstGeom prst="roundRect">
            <a:avLst>
              <a:gd name="adj" fmla="val 4688"/>
            </a:avLst>
          </a:prstGeom>
          <a:noFill/>
          <a:ln>
            <a:solidFill>
              <a:srgbClr val="1F407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2000" dirty="0">
              <a:solidFill>
                <a:srgbClr val="C00000"/>
              </a:solidFill>
              <a:latin typeface="+mj-lt"/>
              <a:cs typeface="Arial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89D355-18A1-41A0-A016-C970729C04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9069" y="6049575"/>
            <a:ext cx="1247775" cy="773621"/>
          </a:xfrm>
          <a:prstGeom prst="rect">
            <a:avLst/>
          </a:prstGeom>
        </p:spPr>
      </p:pic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4E9DF765-2C06-4E6E-9C71-9907923A44F1}"/>
              </a:ext>
            </a:extLst>
          </p:cNvPr>
          <p:cNvSpPr txBox="1">
            <a:spLocks/>
          </p:cNvSpPr>
          <p:nvPr userDrawn="1"/>
        </p:nvSpPr>
        <p:spPr>
          <a:xfrm>
            <a:off x="8534400" y="6302627"/>
            <a:ext cx="478452" cy="3048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rgbClr val="1F407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F213C9-33A6-42F4-901F-5DD32559A554}" type="slidenum">
              <a:rPr lang="en-US" sz="1600" smtClean="0"/>
              <a:pPr/>
              <a:t>‹#›</a:t>
            </a:fld>
            <a:endParaRPr lang="en-US" sz="1600" dirty="0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0C9B57E2-EA9C-4FF4-ADC6-2333634190E8}"/>
              </a:ext>
            </a:extLst>
          </p:cNvPr>
          <p:cNvSpPr txBox="1">
            <a:spLocks/>
          </p:cNvSpPr>
          <p:nvPr userDrawn="1"/>
        </p:nvSpPr>
        <p:spPr>
          <a:xfrm>
            <a:off x="6482589" y="6302627"/>
            <a:ext cx="2254284" cy="3048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rgbClr val="1F407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Paul Egan, PhD |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1" r:id="rId3"/>
  </p:sldLayoutIdLst>
  <p:hf hdr="0" dt="0"/>
  <p:txStyles>
    <p:titleStyle>
      <a:lvl1pPr algn="l" defTabSz="914400" rtl="0" eaLnBrk="1" fontAlgn="base" latinLnBrk="0" hangingPunct="1">
        <a:spcBef>
          <a:spcPct val="0"/>
        </a:spcBef>
        <a:spcAft>
          <a:spcPct val="0"/>
        </a:spcAft>
        <a:buNone/>
        <a:defRPr lang="en-US" sz="320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AC94D466-2214-432A-B6AD-82C71DB8213D}"/>
              </a:ext>
            </a:extLst>
          </p:cNvPr>
          <p:cNvSpPr/>
          <p:nvPr/>
        </p:nvSpPr>
        <p:spPr>
          <a:xfrm>
            <a:off x="7391400" y="6559200"/>
            <a:ext cx="1717966" cy="298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>
            <a:noFill/>
          </a:ln>
        </p:spPr>
        <p:txBody>
          <a:bodyPr wrap="square" anchor="ctr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dirty="0">
                <a:solidFill>
                  <a:srgbClr val="1F407A"/>
                </a:solidFill>
                <a:latin typeface="Arial" pitchFamily="34" charset="0"/>
                <a:cs typeface="Arial" pitchFamily="34" charset="0"/>
              </a:rPr>
              <a:t>paul-egan.com</a:t>
            </a:r>
          </a:p>
        </p:txBody>
      </p:sp>
      <p:pic>
        <p:nvPicPr>
          <p:cNvPr id="8" name="Picture 7" descr="A person wearing a suit and tie smiling at the camera&#10;&#10;Description automatically generated">
            <a:extLst>
              <a:ext uri="{FF2B5EF4-FFF2-40B4-BE49-F238E27FC236}">
                <a16:creationId xmlns:a16="http://schemas.microsoft.com/office/drawing/2014/main" id="{F008F571-8C04-4B71-833E-CD9680FA0B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3254065"/>
            <a:ext cx="1828800" cy="266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5097CE-4693-4CFB-A64A-217151A39D18}"/>
              </a:ext>
            </a:extLst>
          </p:cNvPr>
          <p:cNvSpPr txBox="1"/>
          <p:nvPr/>
        </p:nvSpPr>
        <p:spPr>
          <a:xfrm>
            <a:off x="824190" y="275272"/>
            <a:ext cx="74949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and testing of 3D printed tissue </a:t>
            </a:r>
          </a:p>
          <a:p>
            <a:pPr algn="ctr"/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scaffolds with directionally tunable stiffness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AB721F-B3B4-464D-8C05-0E781F8354EB}"/>
              </a:ext>
            </a:extLst>
          </p:cNvPr>
          <p:cNvSpPr txBox="1">
            <a:spLocks/>
          </p:cNvSpPr>
          <p:nvPr/>
        </p:nvSpPr>
        <p:spPr>
          <a:xfrm>
            <a:off x="1782793" y="2058805"/>
            <a:ext cx="3322607" cy="8189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>
                <a:solidFill>
                  <a:srgbClr val="1F407A"/>
                </a:solidFill>
                <a:latin typeface="+mj-lt"/>
              </a:rPr>
              <a:t>Abdullah Al </a:t>
            </a:r>
            <a:r>
              <a:rPr lang="en-US" sz="2000" b="1" dirty="0">
                <a:solidFill>
                  <a:srgbClr val="1F407A"/>
                </a:solidFill>
                <a:latin typeface="+mj-lt"/>
              </a:rPr>
              <a:t>Masud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8FF718-AFEA-426F-99C9-529BE983071E}"/>
              </a:ext>
            </a:extLst>
          </p:cNvPr>
          <p:cNvSpPr txBox="1">
            <a:spLocks/>
          </p:cNvSpPr>
          <p:nvPr/>
        </p:nvSpPr>
        <p:spPr>
          <a:xfrm>
            <a:off x="4933949" y="2379638"/>
            <a:ext cx="3322607" cy="874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1F407A"/>
                </a:solidFill>
                <a:latin typeface="+mj-lt"/>
              </a:rPr>
              <a:t>Paul Egan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1846CC-1F98-4BD0-8C51-4A837464CF11}"/>
              </a:ext>
            </a:extLst>
          </p:cNvPr>
          <p:cNvSpPr txBox="1">
            <a:spLocks/>
          </p:cNvSpPr>
          <p:nvPr/>
        </p:nvSpPr>
        <p:spPr>
          <a:xfrm>
            <a:off x="4933949" y="2031084"/>
            <a:ext cx="2970258" cy="874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1F407A"/>
                </a:solidFill>
                <a:latin typeface="+mj-lt"/>
              </a:rPr>
              <a:t>Amit </a:t>
            </a:r>
            <a:r>
              <a:rPr lang="en-US" sz="2000" b="1" dirty="0" err="1">
                <a:solidFill>
                  <a:srgbClr val="1F407A"/>
                </a:solidFill>
                <a:latin typeface="+mj-lt"/>
              </a:rPr>
              <a:t>Arefin</a:t>
            </a:r>
            <a:endParaRPr lang="en-US" sz="2000" b="1" dirty="0">
              <a:solidFill>
                <a:srgbClr val="1F407A"/>
              </a:solidFill>
              <a:latin typeface="+mj-lt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08D6EA2-33FD-4447-9FDD-368B683F32FF}"/>
              </a:ext>
            </a:extLst>
          </p:cNvPr>
          <p:cNvSpPr txBox="1">
            <a:spLocks/>
          </p:cNvSpPr>
          <p:nvPr/>
        </p:nvSpPr>
        <p:spPr>
          <a:xfrm>
            <a:off x="1777348" y="2379638"/>
            <a:ext cx="3322607" cy="874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1F407A"/>
                </a:solidFill>
                <a:latin typeface="+mj-lt"/>
              </a:rPr>
              <a:t>Ming-</a:t>
            </a:r>
            <a:r>
              <a:rPr lang="en-US" sz="2000" b="1" dirty="0" err="1">
                <a:solidFill>
                  <a:srgbClr val="1F407A"/>
                </a:solidFill>
                <a:latin typeface="+mj-lt"/>
              </a:rPr>
              <a:t>Chien</a:t>
            </a:r>
            <a:r>
              <a:rPr lang="en-US" sz="2000" b="1" dirty="0">
                <a:solidFill>
                  <a:srgbClr val="1F407A"/>
                </a:solidFill>
                <a:latin typeface="+mj-lt"/>
              </a:rPr>
              <a:t> </a:t>
            </a:r>
            <a:r>
              <a:rPr lang="en-US" sz="2000" b="1" dirty="0" err="1">
                <a:solidFill>
                  <a:srgbClr val="1F407A"/>
                </a:solidFill>
                <a:latin typeface="+mj-lt"/>
              </a:rPr>
              <a:t>Chyu</a:t>
            </a:r>
            <a:endParaRPr lang="en-US" sz="2000" b="1" dirty="0">
              <a:solidFill>
                <a:srgbClr val="1F407A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ADEF38D-080B-4408-A980-0A37C5DE0BA2}"/>
              </a:ext>
            </a:extLst>
          </p:cNvPr>
          <p:cNvSpPr txBox="1">
            <a:spLocks/>
          </p:cNvSpPr>
          <p:nvPr/>
        </p:nvSpPr>
        <p:spPr>
          <a:xfrm>
            <a:off x="2790247" y="2778195"/>
            <a:ext cx="3322607" cy="874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Dept. Mechanical Engineering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Texas Tech University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BA6478-139B-4ADE-933B-887876322970}"/>
              </a:ext>
            </a:extLst>
          </p:cNvPr>
          <p:cNvSpPr/>
          <p:nvPr/>
        </p:nvSpPr>
        <p:spPr>
          <a:xfrm>
            <a:off x="936689" y="3663422"/>
            <a:ext cx="228600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15F497-927C-48E9-AB2A-4C067FF6C74F}"/>
              </a:ext>
            </a:extLst>
          </p:cNvPr>
          <p:cNvSpPr/>
          <p:nvPr/>
        </p:nvSpPr>
        <p:spPr>
          <a:xfrm>
            <a:off x="2133745" y="3622391"/>
            <a:ext cx="228600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E7661C-E303-4028-A241-785D5FD307C9}"/>
              </a:ext>
            </a:extLst>
          </p:cNvPr>
          <p:cNvSpPr/>
          <p:nvPr/>
        </p:nvSpPr>
        <p:spPr>
          <a:xfrm>
            <a:off x="3613340" y="3613599"/>
            <a:ext cx="228600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41037D-1813-4AAD-8859-88287224E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50" y="3431844"/>
            <a:ext cx="4127350" cy="2359356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7A4C436D-98BA-465A-B0BC-D9139C668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279" y="3226480"/>
            <a:ext cx="2180874" cy="26669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E15A9A-6231-4DB9-85FA-3ABCCB71B95C}"/>
              </a:ext>
            </a:extLst>
          </p:cNvPr>
          <p:cNvSpPr txBox="1"/>
          <p:nvPr/>
        </p:nvSpPr>
        <p:spPr>
          <a:xfrm>
            <a:off x="4616066" y="5885513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Bold Italic"/>
              </a:rPr>
              <a:t>Abdullah </a:t>
            </a:r>
            <a:r>
              <a:rPr lang="en-US" sz="1200" dirty="0" err="1">
                <a:latin typeface="Times Bold Italic"/>
              </a:rPr>
              <a:t>Masud</a:t>
            </a:r>
            <a:endParaRPr lang="en-US" sz="1200" dirty="0">
              <a:latin typeface="Times Bold Ital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50AAD1-897B-486E-94D8-23009C3E736D}"/>
              </a:ext>
            </a:extLst>
          </p:cNvPr>
          <p:cNvSpPr txBox="1"/>
          <p:nvPr/>
        </p:nvSpPr>
        <p:spPr>
          <a:xfrm>
            <a:off x="7007420" y="5885513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Bold Italic"/>
              </a:rPr>
              <a:t>Paul Egan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1ACABB61-A9D1-42BE-A9AF-C015002925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1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8483">
        <p:fade/>
      </p:transition>
    </mc:Choice>
    <mc:Fallback xmlns="">
      <p:transition spd="med" advTm="1848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1CF8-F10A-4D92-B1A1-0942F940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472547"/>
          </a:xfrm>
        </p:spPr>
        <p:txBody>
          <a:bodyPr/>
          <a:lstStyle/>
          <a:p>
            <a:r>
              <a:rPr lang="en-US" sz="2400" b="0" dirty="0"/>
              <a:t>Medicine, Mechanics, and Manufacturing Design (M3D) Lab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AEFA1D-B676-4178-BA0B-B5849A6415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22"/>
          <a:stretch/>
        </p:blipFill>
        <p:spPr>
          <a:xfrm>
            <a:off x="5944817" y="2085984"/>
            <a:ext cx="1789286" cy="13655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CBFFCF-CCFF-4DE5-913E-4E2AB2D499E4}"/>
              </a:ext>
            </a:extLst>
          </p:cNvPr>
          <p:cNvSpPr txBox="1"/>
          <p:nvPr/>
        </p:nvSpPr>
        <p:spPr>
          <a:xfrm>
            <a:off x="5804374" y="3290606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Tissue Scaffolds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B20ADA-B431-4965-A845-9F3423EF11DC}"/>
              </a:ext>
            </a:extLst>
          </p:cNvPr>
          <p:cNvSpPr txBox="1"/>
          <p:nvPr/>
        </p:nvSpPr>
        <p:spPr>
          <a:xfrm>
            <a:off x="5775292" y="4964877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Personalized Nutrition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5BE0D8-6F2E-4B03-BDEB-34CFEBC4BF8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541" t="31579" r="28110" b="38349"/>
          <a:stretch/>
        </p:blipFill>
        <p:spPr>
          <a:xfrm>
            <a:off x="5747011" y="3958595"/>
            <a:ext cx="1992003" cy="10364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896611-A2B8-4FA5-86E2-8D584E339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681" y="1860892"/>
            <a:ext cx="4866235" cy="372003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6B1B2D1-B8EB-4737-9042-8DE1AAEB09DA}"/>
              </a:ext>
            </a:extLst>
          </p:cNvPr>
          <p:cNvSpPr txBox="1">
            <a:spLocks/>
          </p:cNvSpPr>
          <p:nvPr/>
        </p:nvSpPr>
        <p:spPr>
          <a:xfrm>
            <a:off x="1179381" y="1143000"/>
            <a:ext cx="3091690" cy="4725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hangingPunct="0">
              <a:lnSpc>
                <a:spcPts val="2400"/>
              </a:lnSpc>
            </a:pPr>
            <a:r>
              <a:rPr lang="en-US" sz="2800" dirty="0">
                <a:solidFill>
                  <a:srgbClr val="1F40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Integrated Design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82195B4-6BC9-4DFD-9A59-AFFEB38B1B37}"/>
              </a:ext>
            </a:extLst>
          </p:cNvPr>
          <p:cNvSpPr txBox="1">
            <a:spLocks/>
          </p:cNvSpPr>
          <p:nvPr/>
        </p:nvSpPr>
        <p:spPr>
          <a:xfrm>
            <a:off x="4363062" y="1143000"/>
            <a:ext cx="727048" cy="4725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hangingPunct="0">
              <a:lnSpc>
                <a:spcPts val="2400"/>
              </a:lnSpc>
            </a:pPr>
            <a:r>
              <a:rPr lang="en-US" sz="2000" dirty="0">
                <a:solidFill>
                  <a:srgbClr val="1F40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56FB1C6-0499-4171-8ED8-BF2615399DCB}"/>
              </a:ext>
            </a:extLst>
          </p:cNvPr>
          <p:cNvSpPr txBox="1">
            <a:spLocks/>
          </p:cNvSpPr>
          <p:nvPr/>
        </p:nvSpPr>
        <p:spPr>
          <a:xfrm>
            <a:off x="5181600" y="1143000"/>
            <a:ext cx="3431907" cy="4725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hangingPunct="0">
              <a:lnSpc>
                <a:spcPts val="2400"/>
              </a:lnSpc>
            </a:pPr>
            <a:r>
              <a:rPr lang="en-US" sz="2800" dirty="0">
                <a:solidFill>
                  <a:srgbClr val="1F40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Medical Innovations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1470768E-B934-476D-8125-C88789F668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660">
        <p:fade/>
      </p:transition>
    </mc:Choice>
    <mc:Fallback xmlns="">
      <p:transition spd="med" advTm="236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Background: Bone tissue scaffold printing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516083" y="3505200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Tissue scaffold design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446763" y="3931175"/>
            <a:ext cx="38966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Mimic bone geometry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Potentially complex loading cases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Requires biocompatibility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Must achieve high porosity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E4512C-DB9F-47ED-A61B-F0ED54E75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000" y="1117918"/>
            <a:ext cx="3560373" cy="42797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EEAD57-C528-49C1-8763-CE051769AE9E}"/>
              </a:ext>
            </a:extLst>
          </p:cNvPr>
          <p:cNvSpPr txBox="1"/>
          <p:nvPr/>
        </p:nvSpPr>
        <p:spPr>
          <a:xfrm>
            <a:off x="6324600" y="5771501"/>
            <a:ext cx="2526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Times Bold Italic"/>
              </a:rPr>
              <a:t>Wieding</a:t>
            </a:r>
            <a:r>
              <a:rPr lang="en-US" sz="1200" dirty="0">
                <a:latin typeface="Times Bold Italic"/>
              </a:rPr>
              <a:t> et. al. </a:t>
            </a:r>
            <a:r>
              <a:rPr lang="en-US" sz="1200" i="1" dirty="0">
                <a:latin typeface="Times Bold Italic"/>
              </a:rPr>
              <a:t>Med. Eng. Phys. </a:t>
            </a:r>
            <a:r>
              <a:rPr lang="en-US" sz="1200" dirty="0">
                <a:latin typeface="Times Bold Italic"/>
              </a:rPr>
              <a:t>2013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3C4306-B3AF-4E16-B394-2EE26D040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41" y="1228153"/>
            <a:ext cx="4950381" cy="22008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2E29AAC-F11B-446A-AF2A-961C700692F9}"/>
              </a:ext>
            </a:extLst>
          </p:cNvPr>
          <p:cNvSpPr txBox="1"/>
          <p:nvPr/>
        </p:nvSpPr>
        <p:spPr>
          <a:xfrm>
            <a:off x="263121" y="5771501"/>
            <a:ext cx="4031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Times Bold Italic"/>
              </a:rPr>
              <a:t>Blazquez</a:t>
            </a:r>
            <a:r>
              <a:rPr lang="en-US" sz="1200" dirty="0">
                <a:latin typeface="Times Bold Italic"/>
              </a:rPr>
              <a:t>-Carmona et. al. </a:t>
            </a:r>
            <a:r>
              <a:rPr lang="en-US" sz="1200" i="1" dirty="0">
                <a:latin typeface="Times Bold Italic"/>
              </a:rPr>
              <a:t>J. Mech. </a:t>
            </a:r>
            <a:r>
              <a:rPr lang="en-US" sz="1200" i="1" dirty="0" err="1">
                <a:latin typeface="Times Bold Italic"/>
              </a:rPr>
              <a:t>Behav</a:t>
            </a:r>
            <a:r>
              <a:rPr lang="en-US" sz="1200" i="1" dirty="0">
                <a:latin typeface="Times Bold Italic"/>
              </a:rPr>
              <a:t>. Biomed. Mat. </a:t>
            </a:r>
            <a:r>
              <a:rPr lang="en-US" sz="1200" dirty="0">
                <a:latin typeface="Times Bold Italic"/>
              </a:rPr>
              <a:t>2021 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4A3BBC4E-D001-4211-9065-6523BFE926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8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9184">
        <p:fade/>
      </p:transition>
    </mc:Choice>
    <mc:Fallback xmlns="">
      <p:transition spd="med" advTm="6918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Aim: Design bone scaffolds with bi-axial tuning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755120" y="3657600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Bi-axial tuning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685800" y="4083575"/>
            <a:ext cx="38966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Systems have asymmetric loads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Unit cells in lattices can have their geometry modified appropriately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Unit cells are patterned to form scaffolds of specified geometries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C8109A-C994-4BED-BB44-55E3E88F2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04195"/>
            <a:ext cx="3598717" cy="1939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9FC803-616A-4052-AA87-36602707C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50" y="914400"/>
            <a:ext cx="3896637" cy="22274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A0FA66-6F5D-499B-B481-D3CDCD645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277433"/>
            <a:ext cx="4136641" cy="1906795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91CA73A-60AA-4295-9162-F5BC1A02D8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1067">
        <p:fade/>
      </p:transition>
    </mc:Choice>
    <mc:Fallback xmlns="">
      <p:transition spd="med" advTm="6106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Methods: Scaffold fabrication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1125683" y="3983981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Printing process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1056363" y="4409956"/>
            <a:ext cx="42776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EnvisionTEC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DLP printing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E-shell 600 Methacrylic acid-based resin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Build-direction may affect mechanics</a:t>
            </a: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281D6B-A3AF-45B5-BB9A-8D7219A74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940334"/>
            <a:ext cx="5871022" cy="2564866"/>
          </a:xfrm>
          <a:prstGeom prst="rect">
            <a:avLst/>
          </a:prstGeo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07CC9E27-CC73-4780-B743-27B9F8AEF0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1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597">
        <p:fade/>
      </p:transition>
    </mc:Choice>
    <mc:Fallback xmlns="">
      <p:transition spd="med" advTm="365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Methods: Mechanical testing orientation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1049483" y="3886200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Compression testing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980163" y="4312175"/>
            <a:ext cx="49634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Fixed ends interface with compression plates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Orientation of fixed ends and build direction dictate whether </a:t>
            </a:r>
            <a:r>
              <a:rPr lang="en-US" alt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E</a:t>
            </a:r>
            <a:r>
              <a:rPr lang="en-US" altLang="en-US" sz="1800" baseline="-250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z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or E</a:t>
            </a:r>
            <a:r>
              <a:rPr lang="en-US" altLang="en-US" sz="1800" baseline="-250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x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elastic moduli tested</a:t>
            </a: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CD0CE3-3243-4EB8-B4E5-7E7FFFE8BF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687" y="838200"/>
            <a:ext cx="5502713" cy="2762805"/>
          </a:xfrm>
          <a:prstGeom prst="rect">
            <a:avLst/>
          </a:prstGeom>
          <a:noFill/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49F8E8B2-1A09-4E78-B733-13C15F0C70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8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308">
        <p:fade/>
      </p:transition>
    </mc:Choice>
    <mc:Fallback xmlns="">
      <p:transition spd="med" advTm="3630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Results: Porosity differences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1066800" y="4364981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Mechanical testing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1056363" y="4790956"/>
            <a:ext cx="67160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Higher porosity leads to higher longitudinal elastic modulus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Higher unit cell length leads to higher longitudinal elastic modulus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B6ECB2-29A8-4817-8A11-9CB3F7B10732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1"/>
          <a:stretch/>
        </p:blipFill>
        <p:spPr bwMode="auto">
          <a:xfrm>
            <a:off x="5047615" y="1159768"/>
            <a:ext cx="3181985" cy="30264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A02DB3-DBAF-4CDD-BE0B-C0AC3DD89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90984"/>
            <a:ext cx="4142340" cy="2139815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531137E0-E7EC-42AB-96C2-FB88228878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5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5379">
        <p:fade/>
      </p:transition>
    </mc:Choice>
    <mc:Fallback xmlns="">
      <p:transition spd="med" advTm="5537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Results: Porosity differences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AEDCD0-FEAE-4B7C-9D7B-290C29991E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8"/>
          <a:stretch/>
        </p:blipFill>
        <p:spPr bwMode="auto">
          <a:xfrm>
            <a:off x="4876800" y="800250"/>
            <a:ext cx="3689407" cy="381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4A72F7-56A0-4990-8564-C594D19A8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90984"/>
            <a:ext cx="4142340" cy="213981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9EA3ED6-CCA0-4E73-B422-6A0980ADB92E}"/>
              </a:ext>
            </a:extLst>
          </p:cNvPr>
          <p:cNvSpPr txBox="1">
            <a:spLocks/>
          </p:cNvSpPr>
          <p:nvPr/>
        </p:nvSpPr>
        <p:spPr bwMode="auto">
          <a:xfrm>
            <a:off x="1066800" y="4364981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Mechanical testing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7C6F112-4FE9-416B-B389-87DA5DE56564}"/>
              </a:ext>
            </a:extLst>
          </p:cNvPr>
          <p:cNvSpPr txBox="1">
            <a:spLocks/>
          </p:cNvSpPr>
          <p:nvPr/>
        </p:nvSpPr>
        <p:spPr>
          <a:xfrm>
            <a:off x="1056363" y="4790956"/>
            <a:ext cx="67160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Higher porosity leads to higher longitudinal elastic modulus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Higher unit cell length leads to higher longitudinal elastic modulus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C9F8D2B3-C554-4B41-B528-F7F8BE97FF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6819">
        <p:fade/>
      </p:transition>
    </mc:Choice>
    <mc:Fallback xmlns="">
      <p:transition spd="med" advTm="4681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96FF5DD-37BB-48CD-9AD9-4792289B10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"/>
          <a:stretch/>
        </p:blipFill>
        <p:spPr bwMode="auto">
          <a:xfrm>
            <a:off x="4604116" y="1327820"/>
            <a:ext cx="4387484" cy="37451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Results: Stretching unit cell height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516083" y="4441181"/>
            <a:ext cx="3522517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Trends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446763" y="4867156"/>
            <a:ext cx="51158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Higher unit cell height increases elastic modulus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Not perfectly linear, could have manufacturing affect mechanics</a:t>
            </a: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E1A2B4-2BB6-4C16-94D2-2CE43261A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52" y="1446005"/>
            <a:ext cx="4136641" cy="1906795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469D9157-C318-4688-9C11-72BB6BA0CC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2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5626">
        <p:fade/>
      </p:transition>
    </mc:Choice>
    <mc:Fallback xmlns="">
      <p:transition spd="med" advTm="4562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Results: Biaxial loading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1354283" y="4191000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Mechanical results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1284962" y="4616975"/>
            <a:ext cx="58016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Longitudinal elastic modulus </a:t>
            </a:r>
            <a:r>
              <a:rPr lang="en-US" alt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E</a:t>
            </a:r>
            <a:r>
              <a:rPr lang="en-US" altLang="en-US" sz="1800" baseline="-250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z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is greater than </a:t>
            </a:r>
            <a:r>
              <a:rPr lang="en-US" alt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tranvserve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elastic modulus E</a:t>
            </a:r>
            <a:r>
              <a:rPr lang="en-US" altLang="en-US" sz="1800" baseline="-250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x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only for stretch designs.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Increase in </a:t>
            </a:r>
            <a:r>
              <a:rPr lang="en-US" alt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E</a:t>
            </a:r>
            <a:r>
              <a:rPr lang="en-US" altLang="en-US" sz="1800" baseline="-250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z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is sharper than decrease in E</a:t>
            </a:r>
            <a:r>
              <a:rPr lang="en-US" altLang="en-US" sz="1800" baseline="-250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x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as designs are stretched</a:t>
            </a: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F228DF-2E1F-437B-A79B-F9A629E31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066800"/>
            <a:ext cx="4604244" cy="2819037"/>
          </a:xfrm>
          <a:prstGeom prst="rect">
            <a:avLst/>
          </a:prstGeom>
          <a:noFill/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C570A2FB-2849-438B-934D-F21CB810D7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4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5872">
        <p:fade/>
      </p:transition>
    </mc:Choice>
    <mc:Fallback xmlns="">
      <p:transition spd="med" advTm="4587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Results: Fabricated scaffolds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1506683" y="4038600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Scaffold testing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1437363" y="4464575"/>
            <a:ext cx="48110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Longitudinal stiffness of 10 </a:t>
            </a:r>
            <a:r>
              <a:rPr lang="en-US" alt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kN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/mm for bone tissue engineering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By stretching the design you increase stiffness in </a:t>
            </a:r>
            <a:r>
              <a:rPr lang="en-US" alt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E</a:t>
            </a:r>
            <a:r>
              <a:rPr lang="en-US" altLang="en-US" sz="1800" baseline="-25000" dirty="0" err="1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z</a:t>
            </a: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 while maintaining stiffness in E</a:t>
            </a:r>
            <a:r>
              <a:rPr lang="en-US" altLang="en-US" sz="1800" baseline="-250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F8649-D268-4E75-874B-3193B7F9B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084412"/>
            <a:ext cx="3922520" cy="2662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B1C1A8-52B2-45EC-B3FF-F8E294C45073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22"/>
          <a:stretch/>
        </p:blipFill>
        <p:spPr bwMode="auto">
          <a:xfrm>
            <a:off x="990600" y="1014721"/>
            <a:ext cx="3190875" cy="12433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98FA79-D6C4-45FB-8155-3A0F51362126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2345364"/>
            <a:ext cx="3200400" cy="1489075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F70C05-0258-4BFF-9D72-38A814E1B92E}"/>
              </a:ext>
            </a:extLst>
          </p:cNvPr>
          <p:cNvSpPr txBox="1"/>
          <p:nvPr/>
        </p:nvSpPr>
        <p:spPr>
          <a:xfrm>
            <a:off x="263121" y="5771501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Bold Italic"/>
              </a:rPr>
              <a:t>Egan et. al. </a:t>
            </a:r>
            <a:r>
              <a:rPr lang="en-US" sz="1200" i="1" dirty="0">
                <a:latin typeface="Times Bold Italic"/>
              </a:rPr>
              <a:t>J. Mech. Des. </a:t>
            </a:r>
            <a:r>
              <a:rPr lang="en-US" sz="1200" dirty="0">
                <a:latin typeface="Times Bold Italic"/>
              </a:rPr>
              <a:t>2019 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6DAEC996-2C69-42E7-9213-4A04B9F620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8980">
        <p:fade/>
      </p:transition>
    </mc:Choice>
    <mc:Fallback xmlns="">
      <p:transition spd="med" advTm="4898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Discussion: Manufacturing affects mechanics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516083" y="1316981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Limitations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446763" y="1742956"/>
            <a:ext cx="38966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Checking print defects and porosity influences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Can’t test every condition</a:t>
            </a: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C736EC-6F1F-434E-99DE-49DA184953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6708"/>
          <a:stretch/>
        </p:blipFill>
        <p:spPr>
          <a:xfrm>
            <a:off x="5169230" y="1968147"/>
            <a:ext cx="3559616" cy="2627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4553239-6ADA-4FAB-B5AB-3BE523C007C1}"/>
              </a:ext>
            </a:extLst>
          </p:cNvPr>
          <p:cNvSpPr txBox="1">
            <a:spLocks/>
          </p:cNvSpPr>
          <p:nvPr/>
        </p:nvSpPr>
        <p:spPr bwMode="auto">
          <a:xfrm>
            <a:off x="516083" y="3221981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Future work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E890189-D715-4BF6-A098-1A9780AB2011}"/>
              </a:ext>
            </a:extLst>
          </p:cNvPr>
          <p:cNvSpPr txBox="1">
            <a:spLocks/>
          </p:cNvSpPr>
          <p:nvPr/>
        </p:nvSpPr>
        <p:spPr>
          <a:xfrm>
            <a:off x="446763" y="3647956"/>
            <a:ext cx="38966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Greater characterization of printing defects and failures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Design, build, and test for scaffold viability in use case</a:t>
            </a: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183FE8CE-2491-485D-B452-AC859C8DE5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1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3858">
        <p:fade/>
      </p:transition>
    </mc:Choice>
    <mc:Fallback xmlns="">
      <p:transition spd="med" advTm="4385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579F94-6AE0-4986-A2CE-CEDE461D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072"/>
            <a:ext cx="8839200" cy="472547"/>
          </a:xfrm>
        </p:spPr>
        <p:txBody>
          <a:bodyPr/>
          <a:lstStyle/>
          <a:p>
            <a:r>
              <a:rPr lang="en-US" sz="2800" b="0" dirty="0"/>
              <a:t>Conclusion: Biaxial tuning is viable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AEC7C9-FDF7-4AE1-9B9D-2168EB3DA0DF}"/>
              </a:ext>
            </a:extLst>
          </p:cNvPr>
          <p:cNvSpPr txBox="1">
            <a:spLocks/>
          </p:cNvSpPr>
          <p:nvPr/>
        </p:nvSpPr>
        <p:spPr bwMode="auto">
          <a:xfrm>
            <a:off x="602720" y="1828800"/>
            <a:ext cx="3274851" cy="460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 i="0">
                <a:solidFill>
                  <a:srgbClr val="AF463C"/>
                </a:solidFill>
                <a:latin typeface="Helvetica Light"/>
                <a:ea typeface="+mj-ea"/>
                <a:cs typeface="DINOT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defTabSz="914400"/>
            <a:r>
              <a:rPr lang="en-US" sz="2400" dirty="0">
                <a:solidFill>
                  <a:srgbClr val="1F407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Key takeaways</a:t>
            </a:r>
            <a:endParaRPr lang="de-DE" sz="2400" dirty="0">
              <a:solidFill>
                <a:srgbClr val="1F407A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6A73ED-D35D-469A-8327-ED6EB33A88E5}"/>
              </a:ext>
            </a:extLst>
          </p:cNvPr>
          <p:cNvSpPr txBox="1">
            <a:spLocks/>
          </p:cNvSpPr>
          <p:nvPr/>
        </p:nvSpPr>
        <p:spPr>
          <a:xfrm>
            <a:off x="533400" y="2254775"/>
            <a:ext cx="3896637" cy="771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Scaffolds qualitatively printed in a number of varied configurations for porosity and unit cell design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Can tune mechanics in multiple directions with varying relative trade-offs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Times Bold Italic" pitchFamily="18" charset="0"/>
                <a:ea typeface="Tahoma" panose="020B0604030504040204" pitchFamily="34" charset="0"/>
                <a:cs typeface="Simplified Arabic" panose="02020603050405020304" pitchFamily="18" charset="-78"/>
              </a:rPr>
              <a:t>Viable for scaffold problem in terms of overall stiffness, further optimization and testing needed</a:t>
            </a:r>
          </a:p>
          <a:p>
            <a:pPr marL="342900" indent="-342900" algn="l" hangingPunc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altLang="en-US" sz="1800" baseline="30000" dirty="0">
              <a:solidFill>
                <a:prstClr val="black">
                  <a:lumMod val="95000"/>
                  <a:lumOff val="5000"/>
                </a:prstClr>
              </a:solidFill>
              <a:latin typeface="Times Bold Italic" pitchFamily="18" charset="0"/>
              <a:ea typeface="Tahoma" panose="020B0604030504040204" pitchFamily="34" charset="0"/>
              <a:cs typeface="Simplified Arabic" panose="02020603050405020304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F4934-5CCB-41A2-AC7B-ED012E776CF6}"/>
              </a:ext>
            </a:extLst>
          </p:cNvPr>
          <p:cNvSpPr/>
          <p:nvPr/>
        </p:nvSpPr>
        <p:spPr>
          <a:xfrm>
            <a:off x="4953000" y="32004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BF473A-5FDC-44E3-AE7F-8E5595D9E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810" y="2020722"/>
            <a:ext cx="4127350" cy="2359356"/>
          </a:xfrm>
          <a:prstGeom prst="rect">
            <a:avLst/>
          </a:prstGeo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E19C8884-5C86-45BE-A97F-FC8D73E924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641">
        <p:fade/>
      </p:transition>
    </mc:Choice>
    <mc:Fallback xmlns="">
      <p:transition spd="med" advTm="3664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atue of two people standing in front of a building&#10;&#10;Description automatically generated">
            <a:extLst>
              <a:ext uri="{FF2B5EF4-FFF2-40B4-BE49-F238E27FC236}">
                <a16:creationId xmlns:a16="http://schemas.microsoft.com/office/drawing/2014/main" id="{39A551A2-23F5-4197-BF00-0588EB1A63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1" t="4871" r="27115" b="8634"/>
          <a:stretch/>
        </p:blipFill>
        <p:spPr>
          <a:xfrm>
            <a:off x="4427511" y="838200"/>
            <a:ext cx="4130622" cy="53695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ECEDD9F-BAEB-4760-A329-E3E6FADE92FA}"/>
              </a:ext>
            </a:extLst>
          </p:cNvPr>
          <p:cNvSpPr txBox="1">
            <a:spLocks/>
          </p:cNvSpPr>
          <p:nvPr/>
        </p:nvSpPr>
        <p:spPr>
          <a:xfrm>
            <a:off x="685800" y="838200"/>
            <a:ext cx="2743200" cy="457200"/>
          </a:xfrm>
          <a:prstGeom prst="rect">
            <a:avLst/>
          </a:prstGeom>
        </p:spPr>
        <p:txBody>
          <a:bodyPr anchor="b"/>
          <a:lstStyle>
            <a:lvl1pPr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defRPr lang="en-US" sz="60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0" dirty="0"/>
              <a:t>Thank you</a:t>
            </a: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EE35DC2D-ED1C-4EB7-9CFC-01789B6B3F1A}"/>
              </a:ext>
            </a:extLst>
          </p:cNvPr>
          <p:cNvSpPr/>
          <p:nvPr/>
        </p:nvSpPr>
        <p:spPr>
          <a:xfrm>
            <a:off x="7426034" y="6559200"/>
            <a:ext cx="1717966" cy="298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>
            <a:noFill/>
          </a:ln>
        </p:spPr>
        <p:txBody>
          <a:bodyPr wrap="square" anchor="ctr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dirty="0">
                <a:solidFill>
                  <a:srgbClr val="1F407A"/>
                </a:solidFill>
                <a:latin typeface="Arial" pitchFamily="34" charset="0"/>
                <a:cs typeface="Arial" pitchFamily="34" charset="0"/>
              </a:rPr>
              <a:t>paul-egan.com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BB6FD-7A1C-4C6C-9046-FD37820330B3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1"/>
          <a:stretch/>
        </p:blipFill>
        <p:spPr bwMode="auto">
          <a:xfrm>
            <a:off x="585867" y="2438400"/>
            <a:ext cx="3181985" cy="30264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DD1D643C-B4C0-4AF1-8655-A89D5C299B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2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6958">
        <p:fade/>
      </p:transition>
    </mc:Choice>
    <mc:Fallback xmlns="">
      <p:transition spd="med" advTm="2695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14B744E2AB24A83695597BC9B11B6" ma:contentTypeVersion="13" ma:contentTypeDescription="Create a new document." ma:contentTypeScope="" ma:versionID="1b3fbdc6becd5c3ef07e4bf5b8ac6686">
  <xsd:schema xmlns:xsd="http://www.w3.org/2001/XMLSchema" xmlns:xs="http://www.w3.org/2001/XMLSchema" xmlns:p="http://schemas.microsoft.com/office/2006/metadata/properties" xmlns:ns3="78be7ef8-bf85-4c57-9357-b5ace12a331e" xmlns:ns4="7f43abfc-7d8b-43bc-b2bb-25d3f1b9bdb6" targetNamespace="http://schemas.microsoft.com/office/2006/metadata/properties" ma:root="true" ma:fieldsID="e4a92278636529d436b8c0d9043396a0" ns3:_="" ns4:_="">
    <xsd:import namespace="78be7ef8-bf85-4c57-9357-b5ace12a331e"/>
    <xsd:import namespace="7f43abfc-7d8b-43bc-b2bb-25d3f1b9bdb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be7ef8-bf85-4c57-9357-b5ace12a331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3abfc-7d8b-43bc-b2bb-25d3f1b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924B0D-6922-4514-9930-6CE1DB4438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99B780-DFA6-499E-B22C-FFBF197C73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be7ef8-bf85-4c57-9357-b5ace12a331e"/>
    <ds:schemaRef ds:uri="7f43abfc-7d8b-43bc-b2bb-25d3f1b9bd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58305E-2E58-4D1B-B1C9-EAB93E785AAE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f43abfc-7d8b-43bc-b2bb-25d3f1b9bdb6"/>
    <ds:schemaRef ds:uri="78be7ef8-bf85-4c57-9357-b5ace12a331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99704</TotalTime>
  <Words>418</Words>
  <Application>Microsoft Office PowerPoint</Application>
  <PresentationFormat>On-screen Show (4:3)</PresentationFormat>
  <Paragraphs>74</Paragraphs>
  <Slides>14</Slides>
  <Notes>0</Notes>
  <HiddenSlides>0</HiddenSlides>
  <MMClips>14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Simplified Arabic</vt:lpstr>
      <vt:lpstr>Tahoma</vt:lpstr>
      <vt:lpstr>Times Bold Italic</vt:lpstr>
      <vt:lpstr>Wingdings</vt:lpstr>
      <vt:lpstr>2_Office Theme</vt:lpstr>
      <vt:lpstr>Office Theme</vt:lpstr>
      <vt:lpstr>PowerPoint Presentation</vt:lpstr>
      <vt:lpstr>Medicine, Mechanics, and Manufacturing Design (M3D) Lab</vt:lpstr>
      <vt:lpstr>Background: Bone tissue scaffold printing</vt:lpstr>
      <vt:lpstr>Aim: Design bone scaffolds with bi-axial tuning</vt:lpstr>
      <vt:lpstr>Methods: Scaffold fabrication</vt:lpstr>
      <vt:lpstr>Methods: Mechanical testing orientation</vt:lpstr>
      <vt:lpstr>Results: Porosity differences</vt:lpstr>
      <vt:lpstr>Results: Porosity differences</vt:lpstr>
      <vt:lpstr>Results: Stretching unit cell height</vt:lpstr>
      <vt:lpstr>Results: Biaxial loading</vt:lpstr>
      <vt:lpstr>Results: Fabricated scaffolds</vt:lpstr>
      <vt:lpstr>Discussion: Manufacturing affects mechanics</vt:lpstr>
      <vt:lpstr>Conclusion: Biaxial tuning is viable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Probabilistic FE and Multi-body Modeling of drivetrain in Wind Turbines for Reliability Analysis</dc:title>
  <dc:creator>fish</dc:creator>
  <cp:lastModifiedBy>Masud, Abdullah Al</cp:lastModifiedBy>
  <cp:revision>1319</cp:revision>
  <cp:lastPrinted>2019-07-24T03:54:54Z</cp:lastPrinted>
  <dcterms:created xsi:type="dcterms:W3CDTF">2011-02-17T04:16:28Z</dcterms:created>
  <dcterms:modified xsi:type="dcterms:W3CDTF">2021-08-17T01:31:18Z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0x010100AB414B744E2AB24A83695597BC9B11B6</vt:lpwstr>
  </property>
</Properties>
</file>